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5" r:id="rId5"/>
    <p:sldId id="268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4" r:id="rId17"/>
    <p:sldId id="282" r:id="rId18"/>
    <p:sldId id="285" r:id="rId19"/>
    <p:sldId id="286" r:id="rId20"/>
    <p:sldId id="283" r:id="rId21"/>
    <p:sldId id="287" r:id="rId22"/>
    <p:sldId id="259" r:id="rId23"/>
  </p:sldIdLst>
  <p:sldSz cx="12192000" cy="6858000"/>
  <p:notesSz cx="6858000" cy="9144000"/>
  <p:embeddedFontLst>
    <p:embeddedFont>
      <p:font typeface="Calibri" panose="020F0502020204030204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Libre Baskerville" panose="0200000000000000000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689405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br>
              <a:rPr lang="en-IN" sz="18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Flipkart Television Market and Price Analysis</a:t>
            </a:r>
            <a:endParaRPr lang="en-US" sz="28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 algn="ctr"/>
            <a:endParaRPr lang="en-IN" b="1" dirty="0"/>
          </a:p>
          <a:p>
            <a:pPr lvl="0" algn="ctr"/>
            <a:r>
              <a:rPr lang="en-IN" sz="2000" b="1" dirty="0"/>
              <a:t>Exploratory Data Analysis</a:t>
            </a:r>
            <a:endParaRPr lang="en-IN" sz="20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8143240" y="638746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/>
              <a:t>Poloju Uma Maheshwari</a:t>
            </a:r>
            <a:endParaRPr lang="en-I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85043" y="549207"/>
            <a:ext cx="418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Problem Statement :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5575" y="1647146"/>
            <a:ext cx="11267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Understanding consumer preferences in the TV market: Analyzing best-selling brands, </a:t>
            </a:r>
            <a:endParaRPr lang="en-US" sz="2400" dirty="0"/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price segments, and key features to optimize product stocking and maximize sales on </a:t>
            </a:r>
            <a:endParaRPr lang="en-US" sz="2400" dirty="0"/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Flipkart."</a:t>
            </a:r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145" y="3429000"/>
            <a:ext cx="5211710" cy="292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0" y="485140"/>
            <a:ext cx="4050030" cy="9023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  <a:effectLst/>
                <a:latin typeface="+mj-lt"/>
                <a:cs typeface="+mj-lt"/>
              </a:rPr>
              <a:t>Libraries Used:</a:t>
            </a:r>
            <a:endParaRPr lang="en-IN" sz="3200" b="1" dirty="0">
              <a:solidFill>
                <a:srgbClr val="FF0000"/>
              </a:solidFill>
              <a:effectLst/>
              <a:latin typeface="+mj-lt"/>
              <a:cs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0" y="1911807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Regular Expressions </a:t>
            </a:r>
            <a:endParaRPr lang="en-US" sz="2800" dirty="0"/>
          </a:p>
          <a:p>
            <a:pPr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Beautiful soup </a:t>
            </a:r>
            <a:endParaRPr lang="en-US" sz="2800" dirty="0"/>
          </a:p>
          <a:p>
            <a:pPr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Numpy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n-US" sz="2800" dirty="0"/>
          </a:p>
          <a:p>
            <a:pPr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Pandas </a:t>
            </a:r>
            <a:endParaRPr lang="en-US" sz="2800" dirty="0"/>
          </a:p>
          <a:p>
            <a:pPr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Matplotlib </a:t>
            </a:r>
            <a:endParaRPr lang="en-US" sz="2800" dirty="0"/>
          </a:p>
          <a:p>
            <a:pPr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Seaborn</a:t>
            </a:r>
            <a:endParaRPr lang="en-IN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134" y="2276278"/>
            <a:ext cx="4855662" cy="293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9075" y="230505"/>
            <a:ext cx="9395460" cy="1316990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+mj-lt"/>
                <a:cs typeface="+mj-lt"/>
              </a:rPr>
              <a:t>                 Web scraping Process:</a:t>
            </a:r>
            <a:endParaRPr lang="en-IN" sz="3200" b="1" dirty="0">
              <a:solidFill>
                <a:srgbClr val="FF0000"/>
              </a:solidFill>
              <a:latin typeface="+mj-lt"/>
              <a:cs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560" y="145986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is the automated extraction of structured information from websites using Python tools.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3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https://www.flipkart.com/search?q=television&amp;sid=ckf%2Cczl&amp;as=on&amp;as-show=on&amp;otracker=AS_QueryStore</a:t>
            </a:r>
            <a:endParaRPr lang="en-US" sz="15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, Requests, Beautiful Soup, Regex , Pandas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followed: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Fetched multiple Flipkart pages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 HTML content with Beautiful Soup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laptop details: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Brand, Screen size, Quality, Price, Screen Type, Rating, Price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results 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exported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645" y="535941"/>
            <a:ext cx="10408920" cy="731519"/>
          </a:xfrm>
        </p:spPr>
        <p:txBody>
          <a:bodyPr>
            <a:noAutofit/>
          </a:bodyPr>
          <a:lstStyle/>
          <a:p>
            <a:br>
              <a:rPr lang="en-US" altLang="en-US" sz="3600" b="1" dirty="0">
                <a:solidFill>
                  <a:srgbClr val="FF0000"/>
                </a:solidFill>
              </a:rPr>
            </a:br>
            <a:r>
              <a:rPr lang="en-US" altLang="en-US" sz="3600" b="1" dirty="0">
                <a:solidFill>
                  <a:srgbClr val="FF0000"/>
                </a:solidFill>
              </a:rPr>
              <a:t>                   Exploratory Data Analysis: </a:t>
            </a:r>
            <a:br>
              <a:rPr lang="en-IN" sz="3600" b="1" u="sng" dirty="0">
                <a:solidFill>
                  <a:srgbClr val="FF0000"/>
                </a:solidFill>
              </a:rPr>
            </a:br>
            <a:endParaRPr lang="en-IN" sz="3600" b="1" i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570" y="1493361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SzPct val="10000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examining, cleaning, and understanding a dataset to uncover patterns, trends, and relationships. It helps validate data quality and provides insights through statistical summaries and visualizations.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SzPct val="1000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SzPct val="100000"/>
              <a:buNone/>
            </a:pP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1.Data Collection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Gather raw data from the source.            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Remove null values.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Univariate Analysis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Bivariate Analysis  	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Visualization &amp; Insights.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SzPct val="1000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734" y="613463"/>
            <a:ext cx="10010191" cy="552456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solidFill>
                  <a:schemeClr val="tx1"/>
                </a:solidFill>
              </a:rPr>
              <a:t>                      </a:t>
            </a:r>
            <a:br>
              <a:rPr lang="en-US" altLang="en-US" sz="3600" b="1" dirty="0">
                <a:solidFill>
                  <a:schemeClr val="tx1"/>
                </a:solidFill>
              </a:rPr>
            </a:br>
            <a:r>
              <a:rPr lang="en-US" altLang="en-US" sz="3600" b="1" dirty="0">
                <a:solidFill>
                  <a:schemeClr val="tx1"/>
                </a:solidFill>
              </a:rPr>
              <a:t>                   </a:t>
            </a:r>
            <a:r>
              <a:rPr lang="en-US" altLang="en-US" sz="3600" b="1" dirty="0">
                <a:solidFill>
                  <a:srgbClr val="FF0000"/>
                </a:solidFill>
              </a:rPr>
              <a:t>Univariate Analysis: </a:t>
            </a:r>
            <a:br>
              <a:rPr lang="en-IN" sz="3600" b="1" u="sng" dirty="0">
                <a:solidFill>
                  <a:srgbClr val="FF0000"/>
                </a:solidFill>
              </a:rPr>
            </a:br>
            <a:endParaRPr lang="en-IN" sz="3600" b="1" i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895" y="1616043"/>
            <a:ext cx="10619792" cy="4777273"/>
          </a:xfrm>
        </p:spPr>
        <p:txBody>
          <a:bodyPr anchor="t">
            <a:normAutofit lnSpcReduction="10000"/>
          </a:bodyPr>
          <a:lstStyle/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studies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feature at a 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its basic behavior.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patterns like distribution, central values, and outliers for that single variable.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Categorical: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that represents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or categories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numbers (here, brand name, OS, Model name).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Plot- A bar plot is used to compare categories using bars whose heights represent a numeric value.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category. 	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brands/models cost more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Plot- A count plot automatically counts how many times each category appears in the dataset. </a:t>
            </a: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category appears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popularity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frequency, and market dominance.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62651" y="282372"/>
            <a:ext cx="429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Univariate Analysis: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24115" y="5220928"/>
            <a:ext cx="109138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1.For the brands like Blueprint, TCL, Samsung and PHILIPS has higher prices and other brands has average </a:t>
            </a:r>
            <a:r>
              <a:rPr lang="en-US" dirty="0" err="1"/>
              <a:t>Prices.The</a:t>
            </a:r>
            <a:r>
              <a:rPr lang="en-US" dirty="0"/>
              <a:t> brands like </a:t>
            </a:r>
            <a:r>
              <a:rPr lang="en-US" dirty="0" err="1"/>
              <a:t>Foxsky</a:t>
            </a:r>
            <a:r>
              <a:rPr lang="en-US" dirty="0"/>
              <a:t>, Thomson has very low prices.</a:t>
            </a:r>
            <a:endParaRPr lang="en-US" dirty="0"/>
          </a:p>
          <a:p>
            <a:endParaRPr lang="en-US" dirty="0"/>
          </a:p>
          <a:p>
            <a:r>
              <a:rPr lang="en-IN" dirty="0"/>
              <a:t>2.The more the screen size the higher the prices.</a:t>
            </a:r>
            <a:endParaRPr lang="en-IN" dirty="0"/>
          </a:p>
          <a:p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683" y="1510623"/>
            <a:ext cx="5830529" cy="349688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392" y="1510623"/>
            <a:ext cx="5830529" cy="3407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46437" y="1035589"/>
            <a:ext cx="8126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Plot- A bar plot is used to compare categories using bars whose heights represent a numeric value. 						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07690" y="5338916"/>
            <a:ext cx="104145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1.Most Televisions in the dataset come from </a:t>
            </a:r>
            <a:r>
              <a:rPr lang="en-US" b="1" dirty="0"/>
              <a:t>Reliance</a:t>
            </a:r>
            <a:r>
              <a:rPr lang="en-US" dirty="0"/>
              <a:t> and  </a:t>
            </a:r>
            <a:r>
              <a:rPr lang="en-US" b="1" dirty="0"/>
              <a:t>Philips</a:t>
            </a:r>
            <a:r>
              <a:rPr lang="en-US" dirty="0"/>
              <a:t> showing they dominate the market. </a:t>
            </a:r>
            <a:r>
              <a:rPr lang="en-US" b="1" dirty="0" err="1"/>
              <a:t>Foxsky</a:t>
            </a:r>
            <a:r>
              <a:rPr lang="en-US" dirty="0"/>
              <a:t>, </a:t>
            </a:r>
            <a:r>
              <a:rPr lang="en-US" b="1" dirty="0" err="1"/>
              <a:t>Coocaa</a:t>
            </a:r>
            <a:r>
              <a:rPr lang="en-US" dirty="0"/>
              <a:t>, </a:t>
            </a:r>
            <a:r>
              <a:rPr lang="en-US" b="1" dirty="0"/>
              <a:t>LG</a:t>
            </a:r>
            <a:r>
              <a:rPr lang="en-US" dirty="0"/>
              <a:t> and </a:t>
            </a:r>
            <a:r>
              <a:rPr lang="en-US" b="1" dirty="0"/>
              <a:t>Xiaomi</a:t>
            </a:r>
            <a:r>
              <a:rPr lang="en-US" dirty="0"/>
              <a:t> have a moderate number of listings. Many other brands appear only a few times, indicating they are less popular or rarely listed.</a:t>
            </a:r>
            <a:endParaRPr lang="en-US" dirty="0"/>
          </a:p>
          <a:p>
            <a:r>
              <a:rPr lang="en-US" dirty="0"/>
              <a:t>2.Mostly preferred screen type is LED.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065518" y="472690"/>
            <a:ext cx="25760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Count Plot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4941" y="1858684"/>
            <a:ext cx="8389121" cy="3480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6889" y="1211307"/>
            <a:ext cx="79171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Plot- A count plot automatically counts how many times each category appears in the dataset.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1523" y="1510571"/>
            <a:ext cx="6620203" cy="39024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7690" y="5742037"/>
            <a:ext cx="1016655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/>
                </a:solidFill>
                <a:effectLst/>
                <a:latin typeface="+mj-lt"/>
                <a:cs typeface="+mj-lt"/>
              </a:rPr>
              <a:t>Here, mostly </a:t>
            </a:r>
            <a:r>
              <a:rPr lang="en-US" sz="1600" dirty="0" err="1">
                <a:solidFill>
                  <a:schemeClr val="tx1"/>
                </a:solidFill>
                <a:latin typeface="+mj-lt"/>
                <a:cs typeface="+mj-lt"/>
              </a:rPr>
              <a:t>p</a:t>
            </a:r>
            <a:r>
              <a:rPr lang="en-US" sz="1600" b="0" i="0" dirty="0" err="1">
                <a:solidFill>
                  <a:schemeClr val="tx1"/>
                </a:solidFill>
                <a:effectLst/>
                <a:latin typeface="+mj-lt"/>
                <a:cs typeface="+mj-lt"/>
              </a:rPr>
              <a:t>refered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+mj-lt"/>
                <a:cs typeface="+mj-lt"/>
              </a:rPr>
              <a:t> screen size varies between is 100-140 ,sound output is in between20-30WTfor the most TV's the price ranges between 20000-40000 and most of the TV's launched in the year 2025.</a:t>
            </a:r>
            <a:endParaRPr lang="en-IN" sz="1600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44291" y="284558"/>
            <a:ext cx="6096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5"/>
              </a:spcBef>
              <a:spcAft>
                <a:spcPts val="870"/>
              </a:spcAft>
              <a:buNone/>
            </a:pPr>
            <a:r>
              <a:rPr lang="en-IN" sz="3200" b="1" i="0" dirty="0">
                <a:solidFill>
                  <a:srgbClr val="FF0000"/>
                </a:solidFill>
                <a:effectLst/>
                <a:latin typeface="+mj-lt"/>
                <a:cs typeface="+mj-lt"/>
              </a:rPr>
              <a:t>Histogram Plot</a:t>
            </a:r>
            <a:endParaRPr lang="en-IN" sz="3200" b="1" i="0" dirty="0">
              <a:solidFill>
                <a:srgbClr val="FF0000"/>
              </a:solidFill>
              <a:effectLst/>
              <a:latin typeface="+mj-lt"/>
              <a:cs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0192" y="954379"/>
            <a:ext cx="8701549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+mj-lt"/>
                <a:cs typeface="+mj-lt"/>
              </a:rPr>
              <a:t>A histogram is a plot that shows how frequently different ranges of numerical values occur in a dataset.</a:t>
            </a:r>
            <a:endParaRPr lang="en-IN" dirty="0">
              <a:solidFill>
                <a:schemeClr val="tx1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491" y="1024662"/>
            <a:ext cx="8311688" cy="4577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4335" y="5899355"/>
            <a:ext cx="963561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+mj-lt"/>
                <a:cs typeface="+mj-lt"/>
              </a:rPr>
              <a:t>It Shows how each numeric feature is spread and concentrated .Inches , and screen size have clear central clusters, while sound output and year has </a:t>
            </a:r>
            <a:r>
              <a:rPr lang="en-US" sz="1600" b="0" i="0" dirty="0" err="1">
                <a:solidFill>
                  <a:schemeClr val="tx1"/>
                </a:solidFill>
                <a:effectLst/>
                <a:latin typeface="+mj-lt"/>
                <a:cs typeface="+mj-lt"/>
              </a:rPr>
              <a:t>has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+mj-lt"/>
                <a:cs typeface="+mj-lt"/>
              </a:rPr>
              <a:t> a tight peak.</a:t>
            </a:r>
            <a:endParaRPr lang="en-US" sz="1600" b="0" i="0" dirty="0">
              <a:solidFill>
                <a:schemeClr val="tx1"/>
              </a:solidFill>
              <a:effectLst/>
              <a:latin typeface="+mj-lt"/>
              <a:cs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38886" y="286547"/>
            <a:ext cx="246789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solidFill>
                  <a:srgbClr val="FF0000"/>
                </a:solidFill>
                <a:effectLst/>
                <a:latin typeface="+mj-lt"/>
                <a:cs typeface="+mj-lt"/>
              </a:rPr>
              <a:t>Violin Plot</a:t>
            </a:r>
            <a:endParaRPr lang="en-US" sz="3200" b="1" i="0" dirty="0">
              <a:solidFill>
                <a:srgbClr val="FF0000"/>
              </a:solidFill>
              <a:effectLst/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4542" y="1481786"/>
            <a:ext cx="6333793" cy="3894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91676" y="469244"/>
            <a:ext cx="2079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Pie Chart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0372" y="5646973"/>
            <a:ext cx="1054018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Ultra HD LED TV seems to be in greater demand as more than 40% of the products categorized as 'Television' on the website are of this type</a:t>
            </a:r>
            <a:r>
              <a:rPr lang="en-US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71850" y="290284"/>
            <a:ext cx="6096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5"/>
              </a:spcBef>
              <a:spcAft>
                <a:spcPts val="870"/>
              </a:spcAft>
              <a:buNone/>
            </a:pPr>
            <a:r>
              <a:rPr lang="en-IN" sz="3200" b="1" i="0" dirty="0">
                <a:solidFill>
                  <a:srgbClr val="FF0000"/>
                </a:solidFill>
                <a:effectLst/>
                <a:latin typeface="+mj-lt"/>
                <a:cs typeface="+mj-lt"/>
              </a:rPr>
              <a:t>BIVARIATE ANALYSIS</a:t>
            </a:r>
            <a:endParaRPr lang="en-IN" sz="3200" b="1" i="0" dirty="0">
              <a:solidFill>
                <a:srgbClr val="FF0000"/>
              </a:solidFill>
              <a:effectLst/>
              <a:latin typeface="+mj-lt"/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2425" y="1150327"/>
            <a:ext cx="7644235" cy="3757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33135" y="5184442"/>
            <a:ext cx="609600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system-ui"/>
              </a:rPr>
              <a:t>• </a:t>
            </a:r>
            <a:r>
              <a:rPr lang="en-US" dirty="0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The bar plot shows the count of TVs by brand and resolution.</a:t>
            </a:r>
            <a:endParaRPr lang="en-US" dirty="0">
              <a:solidFill>
                <a:schemeClr val="tx1"/>
              </a:solidFill>
              <a:effectLst/>
              <a:latin typeface="+mj-lt"/>
              <a:cs typeface="+mj-lt"/>
            </a:endParaRPr>
          </a:p>
          <a:p>
            <a:pPr algn="l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• Reliance , </a:t>
            </a:r>
            <a:r>
              <a:rPr lang="en-US" dirty="0" err="1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Foxsky</a:t>
            </a:r>
            <a:r>
              <a:rPr lang="en-US" dirty="0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 has the highest number of TVs, mostly with HD ready (4k) resolution.</a:t>
            </a:r>
            <a:endParaRPr lang="en-US" dirty="0">
              <a:solidFill>
                <a:schemeClr val="tx1"/>
              </a:solidFill>
              <a:effectLst/>
              <a:latin typeface="+mj-lt"/>
              <a:cs typeface="+mj-lt"/>
            </a:endParaRPr>
          </a:p>
          <a:p>
            <a:pPr algn="l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• </a:t>
            </a:r>
            <a:r>
              <a:rPr lang="en-US" dirty="0" err="1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Foxsky</a:t>
            </a:r>
            <a:r>
              <a:rPr lang="en-US" dirty="0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 has the second highest number of TVs, with </a:t>
            </a:r>
            <a:r>
              <a:rPr lang="en-US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U</a:t>
            </a:r>
            <a:r>
              <a:rPr lang="en-US" dirty="0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ltra HD resolution. Very less brand TVs spread between Full HD.</a:t>
            </a:r>
            <a:endParaRPr lang="en-US" dirty="0">
              <a:solidFill>
                <a:schemeClr val="tx1"/>
              </a:solidFill>
              <a:effectLst/>
              <a:latin typeface="+mj-lt"/>
              <a:cs typeface="+mj-lt"/>
            </a:endParaRPr>
          </a:p>
          <a:p>
            <a:pPr algn="l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•</a:t>
            </a:r>
            <a:r>
              <a:rPr lang="en-US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U</a:t>
            </a:r>
            <a:r>
              <a:rPr lang="en-US" dirty="0">
                <a:solidFill>
                  <a:schemeClr val="tx1"/>
                </a:solidFill>
                <a:effectLst/>
                <a:latin typeface="+mj-lt"/>
                <a:cs typeface="+mj-lt"/>
                <a:sym typeface="+mn-ea"/>
              </a:rPr>
              <a:t>ltra HD (4k) is the most common resolution across brands.</a:t>
            </a:r>
            <a:endParaRPr lang="en-US" dirty="0">
              <a:solidFill>
                <a:schemeClr val="tx1"/>
              </a:solidFill>
              <a:effectLst/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9574" y="1162071"/>
            <a:ext cx="7002778" cy="4544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12374" y="5950093"/>
            <a:ext cx="83672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Here the price varies based on the Brand. Every brand falls under its unique price rating.</a:t>
            </a:r>
            <a:endParaRPr lang="en-IN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107426" y="334058"/>
            <a:ext cx="6096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5"/>
              </a:spcBef>
              <a:spcAft>
                <a:spcPts val="870"/>
              </a:spcAft>
              <a:buNone/>
            </a:pPr>
            <a:r>
              <a:rPr lang="en-IN" sz="3200" b="1" i="0" dirty="0">
                <a:solidFill>
                  <a:srgbClr val="FF0000"/>
                </a:solidFill>
                <a:effectLst/>
                <a:latin typeface="+mj-lt"/>
                <a:cs typeface="+mj-lt"/>
              </a:rPr>
              <a:t>Crosstab Heatmap</a:t>
            </a:r>
            <a:endParaRPr lang="en-IN" sz="3200" b="1" i="0" dirty="0">
              <a:solidFill>
                <a:srgbClr val="FF0000"/>
              </a:solidFill>
              <a:effectLst/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06529" y="3059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Scatter Plot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891" y="1242881"/>
            <a:ext cx="4848902" cy="40772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709" y="1469567"/>
            <a:ext cx="6353625" cy="34662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9755" y="5640177"/>
            <a:ext cx="11120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1.Here, we can see more the screen size high the price for TV’s. Hence price for the TV is depends on screen size.</a:t>
            </a:r>
            <a:endParaRPr lang="en-IN" dirty="0"/>
          </a:p>
          <a:p>
            <a:r>
              <a:rPr lang="en-IN" dirty="0"/>
              <a:t>2.Brands like LG, realme, Xiaomi ,Samsung  has higher ratings and other brands has average ratings.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307" y="1189702"/>
            <a:ext cx="7041463" cy="4170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7187" y="5622998"/>
            <a:ext cx="10854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Shows price variation across brands ,brands like PHILIPS and LG and XIAOMI have higher median prices. Common brands like PHILIPS, FOXSKY appear most frequently.</a:t>
            </a:r>
            <a:endParaRPr lang="en-IN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326194" y="257465"/>
            <a:ext cx="3923071" cy="470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Numerical vs Categorical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4516" y="1791990"/>
            <a:ext cx="11577484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1.Which television brands and models perform best on Flipkart? </a:t>
            </a:r>
            <a:endParaRPr lang="en-US" sz="1800" b="1" dirty="0">
              <a:solidFill>
                <a:srgbClr val="000000"/>
              </a:solidFill>
              <a:effectLst/>
              <a:latin typeface="+mj-lt"/>
              <a:cs typeface="+mj-lt"/>
            </a:endParaRP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Brands such as </a:t>
            </a:r>
            <a:r>
              <a:rPr lang="en-IN" sz="1600" b="1" dirty="0"/>
              <a:t>realme</a:t>
            </a:r>
            <a:r>
              <a:rPr lang="en-IN" sz="1600" dirty="0"/>
              <a:t>, </a:t>
            </a:r>
            <a:r>
              <a:rPr lang="en-IN" sz="1600" b="1" dirty="0"/>
              <a:t>Xiaomi</a:t>
            </a:r>
            <a:r>
              <a:rPr lang="en-IN" sz="1600" dirty="0"/>
              <a:t> ,</a:t>
            </a:r>
            <a:r>
              <a:rPr lang="en-IN" sz="1600" b="1" dirty="0"/>
              <a:t>Samsung</a:t>
            </a:r>
            <a:r>
              <a:rPr lang="en-IN" sz="1600" dirty="0"/>
              <a:t> </a:t>
            </a: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receive higher customer ratings and a larger number 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of reviews, indicating strong brand trust and consistent product performance.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n-US" sz="1800" dirty="0"/>
          </a:p>
          <a:p>
            <a:pPr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2.How do price and discounts influence customer demand and satisfaction? </a:t>
            </a:r>
            <a:endParaRPr lang="en-US" sz="1800" b="1" dirty="0">
              <a:solidFill>
                <a:srgbClr val="000000"/>
              </a:solidFill>
              <a:effectLst/>
              <a:latin typeface="+mj-lt"/>
              <a:cs typeface="+mj-lt"/>
            </a:endParaRP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Televisions in the </a:t>
            </a: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mid-price range with moderate discounts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-Bold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tend to attract more customers and receive 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better ratings, while very high prices or heavy discounts do not always guarantee higher satisfaction. 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3.What screen sizes and resolutions are most preferred by customers? </a:t>
            </a:r>
            <a:endParaRPr lang="en-US" sz="1800" b="1" dirty="0">
              <a:solidFill>
                <a:srgbClr val="000000"/>
              </a:solidFill>
              <a:effectLst/>
              <a:latin typeface="+mj-lt"/>
              <a:cs typeface="+mj-lt"/>
            </a:endParaRP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32-inch and 43-inch TVs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especially with 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-Bold"/>
              </a:rPr>
              <a:t> </a:t>
            </a: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HD  Ready and Ultra HD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are the most popular due to their 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balance between price, viewing experience, and space requirements.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buNone/>
            </a:pP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31056" y="645967"/>
            <a:ext cx="6096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effectLst/>
                <a:latin typeface="+mj-lt"/>
                <a:cs typeface="+mj-lt"/>
              </a:rPr>
              <a:t>Key Business Questions </a:t>
            </a:r>
            <a:endParaRPr lang="en-IN" sz="2800" b="1" dirty="0">
              <a:solidFill>
                <a:srgbClr val="FF0000"/>
              </a:solidFill>
              <a:effectLst/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4047" y="2311563"/>
            <a:ext cx="10726993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4.Which product features have the greatest impact on purchase decisions? </a:t>
            </a:r>
            <a:endParaRPr lang="en-US" sz="1800" b="1" dirty="0">
              <a:solidFill>
                <a:srgbClr val="000000"/>
              </a:solidFill>
              <a:effectLst/>
              <a:latin typeface="+mj-lt"/>
              <a:cs typeface="+mj-lt"/>
            </a:endParaRP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Smart TV functionality, Ultra HD resolution, and LED screen type </a:t>
            </a:r>
            <a:r>
              <a:rPr lang="en-US" sz="1800" dirty="0">
                <a:solidFill>
                  <a:srgbClr val="000000"/>
                </a:solidFill>
                <a:effectLst/>
                <a:latin typeface="+mj-lt"/>
                <a:cs typeface="+mj-lt"/>
              </a:rPr>
              <a:t>significantly influence </a:t>
            </a:r>
            <a:endParaRPr lang="en-US" sz="1800" dirty="0">
              <a:latin typeface="+mj-lt"/>
              <a:cs typeface="+mj-lt"/>
            </a:endParaRP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customer preference and are commonly associated with higher ratings.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n-US" sz="1800" dirty="0"/>
          </a:p>
          <a:p>
            <a:pPr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5.How can TVs be segmented to improve business strategy? </a:t>
            </a:r>
            <a:endParaRPr lang="en-US" sz="1800" b="1" dirty="0">
              <a:solidFill>
                <a:srgbClr val="000000"/>
              </a:solidFill>
              <a:effectLst/>
              <a:latin typeface="+mj-lt"/>
              <a:cs typeface="+mj-lt"/>
            </a:endParaRP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Televisions can be grouped into 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-Bold"/>
              </a:rPr>
              <a:t>b</a:t>
            </a: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cs typeface="+mj-lt"/>
              </a:rPr>
              <a:t>udget, mid-range, and premium segments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allowing Flipkart to tailor 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pricing, inventory planning, and marketing campaigns for each customer segment more effectively</a:t>
            </a: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4116049" y="725217"/>
            <a:ext cx="6096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effectLst/>
                <a:latin typeface="+mj-lt"/>
                <a:cs typeface="+mj-lt"/>
              </a:rPr>
              <a:t>Key Business Questions </a:t>
            </a:r>
            <a:endParaRPr lang="en-IN" sz="2800" b="1" dirty="0">
              <a:solidFill>
                <a:srgbClr val="FF0000"/>
              </a:solidFill>
              <a:effectLst/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1883" y="1791812"/>
            <a:ext cx="10805653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cs typeface="+mn-lt"/>
              </a:rPr>
              <a:t>Most popular TVs are priced between ₹20,000 to ₹60,000. Mid-sized TVs (32-40 inches) receive higher ratings than larger TVs.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cs typeface="+mn-lt"/>
              </a:rPr>
              <a:t>Ultra HD TVs are more common and preferred by most of the people, Where Full HD and HD ready         are rarely preferred.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cs typeface="+mn-lt"/>
              </a:rPr>
              <a:t>Brands like LG, realme, Xiaomi, Samsung has higher ratings and other brands has average ratings.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cs typeface="+mn-lt"/>
              </a:rPr>
              <a:t>TVs with higher ratings attract more reviews, indicating a positive correlation between </a:t>
            </a:r>
            <a:r>
              <a:rPr lang="en-IN" altLang="en-US" sz="1800" b="0" i="0" dirty="0">
                <a:solidFill>
                  <a:schemeClr val="tx1"/>
                </a:solidFill>
                <a:effectLst/>
                <a:latin typeface="+mn-lt"/>
                <a:cs typeface="+mn-lt"/>
              </a:rPr>
              <a:t>  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cs typeface="+mn-lt"/>
              </a:rPr>
              <a:t>popularity and feedback.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  <a:cs typeface="+mn-lt"/>
              </a:rPr>
              <a:t>Best value TVs are mid-sized, affordable Ultra HD models with Ultra HD resolution.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  <a:cs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1998" y="6523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Conclusion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35260" y="644250"/>
            <a:ext cx="3249757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Challenges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038" y="2100937"/>
            <a:ext cx="106299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HTML structure while scraping different Television pages.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Missing, messy, unstructured text in product descriptions.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removing unwanted characters, symbols, and noise.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Converting Screen size, Sound output, ratings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price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proper numerical formats.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6583</Words>
  <Application>WPS Presentation</Application>
  <PresentationFormat>Widescreen</PresentationFormat>
  <Paragraphs>167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Calibri</vt:lpstr>
      <vt:lpstr>Lato Black</vt:lpstr>
      <vt:lpstr>Times New Roman</vt:lpstr>
      <vt:lpstr>TimesNewRomanPS-BoldMT</vt:lpstr>
      <vt:lpstr>Segoe Print</vt:lpstr>
      <vt:lpstr>Calibri-Bold</vt:lpstr>
      <vt:lpstr>Calibri</vt:lpstr>
      <vt:lpstr>Microsoft YaHei</vt:lpstr>
      <vt:lpstr>Arial Unicode MS</vt:lpstr>
      <vt:lpstr>system-ui</vt:lpstr>
      <vt:lpstr>Libre Baskerville</vt:lpstr>
      <vt:lpstr>Bahnschrift Condensed</vt:lpstr>
      <vt:lpstr>Arial Narrow</vt:lpstr>
      <vt:lpstr>Office Theme</vt:lpstr>
      <vt:lpstr>PowerPoint 演示文稿</vt:lpstr>
      <vt:lpstr>PowerPoint 演示文稿</vt:lpstr>
      <vt:lpstr>PowerPoint 演示文稿</vt:lpstr>
      <vt:lpstr>                 Web scraping Process:</vt:lpstr>
      <vt:lpstr>                    Exploratory Data Analysis:  </vt:lpstr>
      <vt:lpstr>                                          Univariate Analysis: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Poloju Uma Maheshwari</cp:lastModifiedBy>
  <cp:revision>3</cp:revision>
  <dcterms:created xsi:type="dcterms:W3CDTF">2021-02-16T05:19:00Z</dcterms:created>
  <dcterms:modified xsi:type="dcterms:W3CDTF">2026-04-05T14:19:58Z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D70183CAFAB0476C885BBEF7BE0DCE31_12</vt:lpwstr>
  </property>
</Properties>
</file>